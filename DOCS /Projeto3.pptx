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914400" y="5029200"/>
            <a:ext cx="731520" cy="3657600"/>
          </a:xfrm>
          <a:prstGeom prst="rect">
            <a:avLst/>
          </a:prstGeom>
          <a:solidFill>
            <a:srgbClr val="0D47A1">
              <a:alpha val="15000"/>
            </a:srgbClr>
          </a:solidFill>
          <a:ln w="12700">
            <a:solidFill>
              <a:srgbClr val="0D47A1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548640" y="5029200"/>
            <a:ext cx="731520" cy="3657600"/>
          </a:xfrm>
          <a:prstGeom prst="rect">
            <a:avLst/>
          </a:prstGeom>
          <a:solidFill>
            <a:srgbClr val="0D47A1">
              <a:alpha val="15000"/>
            </a:srgbClr>
          </a:solidFill>
          <a:ln w="12700">
            <a:solidFill>
              <a:srgbClr val="0D47A1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2011680" y="5029200"/>
            <a:ext cx="731520" cy="3657600"/>
          </a:xfrm>
          <a:prstGeom prst="rect">
            <a:avLst/>
          </a:prstGeom>
          <a:solidFill>
            <a:srgbClr val="0D47A1">
              <a:alpha val="15000"/>
            </a:srgbClr>
          </a:solidFill>
          <a:ln w="12700">
            <a:solidFill>
              <a:srgbClr val="0D47A1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3474720" y="5029200"/>
            <a:ext cx="731520" cy="3657600"/>
          </a:xfrm>
          <a:prstGeom prst="rect">
            <a:avLst/>
          </a:prstGeom>
          <a:solidFill>
            <a:srgbClr val="0D47A1">
              <a:alpha val="15000"/>
            </a:srgbClr>
          </a:solidFill>
          <a:ln w="12700">
            <a:solidFill>
              <a:srgbClr val="0D47A1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4937760" y="5029200"/>
            <a:ext cx="731520" cy="3657600"/>
          </a:xfrm>
          <a:prstGeom prst="rect">
            <a:avLst/>
          </a:prstGeom>
          <a:solidFill>
            <a:srgbClr val="0D47A1">
              <a:alpha val="15000"/>
            </a:srgbClr>
          </a:solidFill>
          <a:ln w="12700">
            <a:solidFill>
              <a:srgbClr val="0D47A1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6400800" y="5029200"/>
            <a:ext cx="731520" cy="3657600"/>
          </a:xfrm>
          <a:prstGeom prst="rect">
            <a:avLst/>
          </a:prstGeom>
          <a:solidFill>
            <a:srgbClr val="0D47A1">
              <a:alpha val="15000"/>
            </a:srgbClr>
          </a:solidFill>
          <a:ln w="12700">
            <a:solidFill>
              <a:srgbClr val="0D47A1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7863840" y="5029200"/>
            <a:ext cx="731520" cy="3657600"/>
          </a:xfrm>
          <a:prstGeom prst="rect">
            <a:avLst/>
          </a:prstGeom>
          <a:solidFill>
            <a:srgbClr val="0D47A1">
              <a:alpha val="15000"/>
            </a:srgbClr>
          </a:solidFill>
          <a:ln w="12700">
            <a:solidFill>
              <a:srgbClr val="0D47A1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800000">
            <a:off x="9326880" y="5029200"/>
            <a:ext cx="731520" cy="3657600"/>
          </a:xfrm>
          <a:prstGeom prst="rect">
            <a:avLst/>
          </a:prstGeom>
          <a:solidFill>
            <a:srgbClr val="0D47A1">
              <a:alpha val="15000"/>
            </a:srgbClr>
          </a:solidFill>
          <a:ln w="12700">
            <a:solidFill>
              <a:srgbClr val="0D47A1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00BCD4">
              <a:alpha val="60000"/>
            </a:srgbClr>
          </a:solidFill>
          <a:ln w="12700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6576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1E88E5">
              <a:alpha val="8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EXECUTIVO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005840"/>
            <a:ext cx="77724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16200000">
              <a:srgbClr val="1E88E5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Contoso</a:t>
            </a:r>
            <a:endParaRPr lang="en-US" sz="72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502920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175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completa de receita, custo e lucro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3 visões estratégicas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0D47A1">
              <a:alpha val="7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148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12848" y="411480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0D47A1">
              <a:alpha val="7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12848" y="41148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77056" y="411480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0D47A1">
              <a:alpha val="7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77056" y="41148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41264" y="411480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0D47A1">
              <a:alpha val="7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41264" y="41148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05472" y="411480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0D47A1">
              <a:alpha val="7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41148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846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Contoso (Microsoft)  ·  Dados públicos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020B18"/>
          </a:solidFill>
          <a:ln w="12700">
            <a:solidFill>
              <a:srgbClr val="02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45720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0"/>
            <a:ext cx="25603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200" kern="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spc="200" kern="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spc="200" kern="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spc="200" kern="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" y="4114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1E88E5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91440" y="5303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2743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respondidas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548640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097280"/>
            <a:ext cx="5669280" cy="804672"/>
          </a:xfrm>
          <a:prstGeom prst="roundRect">
            <a:avLst>
              <a:gd name="adj" fmla="val 9091"/>
            </a:avLst>
          </a:prstGeom>
          <a:solidFill>
            <a:srgbClr val="0D47A1">
              <a:alpha val="25000"/>
            </a:srgbClr>
          </a:solidFill>
          <a:ln w="12700">
            <a:solidFill>
              <a:srgbClr val="42A5F5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64008" cy="8046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07008"/>
            <a:ext cx="5394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Qual o lucro e margem por continente e país?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084832"/>
            <a:ext cx="5669280" cy="804672"/>
          </a:xfrm>
          <a:prstGeom prst="roundRect">
            <a:avLst>
              <a:gd name="adj" fmla="val 9091"/>
            </a:avLst>
          </a:prstGeom>
          <a:solidFill>
            <a:srgbClr val="0D47A1">
              <a:alpha val="25000"/>
            </a:srgbClr>
          </a:solidFill>
          <a:ln w="12700">
            <a:solidFill>
              <a:srgbClr val="42A5F5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084832"/>
            <a:ext cx="64008" cy="8046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194560"/>
            <a:ext cx="5394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Quais lojas têm melhor performance em receita?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3072384"/>
            <a:ext cx="5669280" cy="804672"/>
          </a:xfrm>
          <a:prstGeom prst="roundRect">
            <a:avLst>
              <a:gd name="adj" fmla="val 9091"/>
            </a:avLst>
          </a:prstGeom>
          <a:solidFill>
            <a:srgbClr val="0D47A1">
              <a:alpha val="25000"/>
            </a:srgbClr>
          </a:solidFill>
          <a:ln w="12700">
            <a:solidFill>
              <a:srgbClr val="42A5F5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3072384"/>
            <a:ext cx="64008" cy="8046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182112"/>
            <a:ext cx="5394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Quais produtos e marcas geram mais lucro?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4059936"/>
            <a:ext cx="5669280" cy="804672"/>
          </a:xfrm>
          <a:prstGeom prst="roundRect">
            <a:avLst>
              <a:gd name="adj" fmla="val 9091"/>
            </a:avLst>
          </a:prstGeom>
          <a:solidFill>
            <a:srgbClr val="0D47A1">
              <a:alpha val="25000"/>
            </a:srgbClr>
          </a:solidFill>
          <a:ln w="12700">
            <a:solidFill>
              <a:srgbClr val="42A5F5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4059936"/>
            <a:ext cx="64008" cy="8046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4169664"/>
            <a:ext cx="5394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Como receita e custo evoluíram por ano?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0" y="5047488"/>
            <a:ext cx="5669280" cy="804672"/>
          </a:xfrm>
          <a:prstGeom prst="roundRect">
            <a:avLst>
              <a:gd name="adj" fmla="val 9091"/>
            </a:avLst>
          </a:prstGeom>
          <a:solidFill>
            <a:srgbClr val="0D47A1">
              <a:alpha val="25000"/>
            </a:srgbClr>
          </a:solidFill>
          <a:ln w="12700">
            <a:solidFill>
              <a:srgbClr val="42A5F5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5047488"/>
            <a:ext cx="64008" cy="8046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5157216"/>
            <a:ext cx="5394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Qual a classificação de cores por receita?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288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1E88E5">
              <a:alpha val="8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2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1 DE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2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08760"/>
            <a:ext cx="8595360" cy="470916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274320" y="62910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· Custo · Lucro por Continente, País e Marca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288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1E88E5">
              <a:alpha val="8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2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2 DE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 Lojas</a:t>
            </a:r>
            <a:endParaRPr lang="en-US" sz="2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08760"/>
            <a:ext cx="8595360" cy="470916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274320" y="62910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· Ticket Médio · Receita por Tipo e Continente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288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1E88E5">
              <a:alpha val="8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2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3 DE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 Produtos</a:t>
            </a:r>
            <a:endParaRPr lang="en-US" sz="2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08760"/>
            <a:ext cx="8595360" cy="470916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274320" y="62910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· Classe · Marca · Classificação de Cores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020B18"/>
          </a:solidFill>
          <a:ln w="12700">
            <a:solidFill>
              <a:srgbClr val="02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0" y="731520"/>
            <a:ext cx="40233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200" kern="0" dirty="0">
                <a:solidFill>
                  <a:srgbClr val="0D47A1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</a:t>
            </a:r>
            <a:endParaRPr lang="en-US" sz="7200" dirty="0"/>
          </a:p>
          <a:p>
            <a:pPr algn="ctr" indent="0" marL="0">
              <a:buNone/>
            </a:pPr>
            <a:r>
              <a:rPr lang="en-US" sz="7200" b="1" spc="200" kern="0" dirty="0">
                <a:solidFill>
                  <a:srgbClr val="0D47A1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7200" dirty="0"/>
          </a:p>
          <a:p>
            <a:pPr algn="ctr" indent="0" marL="0">
              <a:buNone/>
            </a:pPr>
            <a:r>
              <a:rPr lang="en-US" sz="7200" b="1" spc="200" kern="0" dirty="0">
                <a:solidFill>
                  <a:srgbClr val="0D47A1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projeto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65760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459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0D47A1">
              <a:alpha val="35000"/>
            </a:srgbClr>
          </a:solidFill>
          <a:ln w="12700">
            <a:solidFill>
              <a:srgbClr val="42A5F5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45920"/>
            <a:ext cx="64008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7190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R$ 12,4 Bi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Total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0D47A1">
              <a:alpha val="35000"/>
            </a:srgbClr>
          </a:solidFill>
          <a:ln w="12700">
            <a:solidFill>
              <a:srgbClr val="42A5F5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834640"/>
            <a:ext cx="64008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9077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R$ 5,4 Bi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6928" y="3401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0233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0D47A1">
              <a:alpha val="35000"/>
            </a:srgbClr>
          </a:solidFill>
          <a:ln w="12700">
            <a:solidFill>
              <a:srgbClr val="42A5F5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4023360"/>
            <a:ext cx="64008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0965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R$ 7,0 Bi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4590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Total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521208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0D47A1">
              <a:alpha val="35000"/>
            </a:srgbClr>
          </a:solidFill>
          <a:ln w="12700">
            <a:solidFill>
              <a:srgbClr val="42A5F5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5212080"/>
            <a:ext cx="64008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52852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56,78%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6928" y="57790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Geral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por trás do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2651760"/>
          </a:xfrm>
          <a:prstGeom prst="roundRect">
            <a:avLst>
              <a:gd name="adj" fmla="val 2759"/>
            </a:avLst>
          </a:prstGeom>
          <a:solidFill>
            <a:srgbClr val="0A1628"/>
          </a:solidFill>
          <a:ln w="12700">
            <a:solidFill>
              <a:srgbClr val="42A5F5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60520" cy="365760"/>
          </a:xfrm>
          <a:prstGeom prst="roundRect">
            <a:avLst>
              <a:gd name="adj" fmla="val 20000"/>
            </a:avLst>
          </a:prstGeom>
          <a:solidFill>
            <a:srgbClr val="0D47A1">
              <a:alpha val="70000"/>
            </a:srgbClr>
          </a:solidFill>
          <a:ln w="12700">
            <a:solidFill>
              <a:srgbClr val="0D47A1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Gerais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886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CTE_Totais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  SELECT
</a:t>
            </a:r>
            <a:pPr indent="0" marL="0">
              <a:buNone/>
            </a:pPr>
            <a:r>
              <a:rPr lang="en-US" sz="95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(SalesAmount) </a:t>
            </a:r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TotalVenda,
</a:t>
            </a:r>
            <a:pPr indent="0" marL="0">
              <a:buNone/>
            </a:pPr>
            <a:r>
              <a:rPr lang="en-US" sz="95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(TotalCost) </a:t>
            </a:r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TotalCusto
</a:t>
            </a:r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</a:t>
            </a:r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FactSales
)
</a:t>
            </a:r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
</a:t>
            </a:r>
            <a:pPr indent="0" marL="0">
              <a:buNone/>
            </a:pPr>
            <a:r>
              <a:rPr lang="en-US" sz="95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FORMAT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(TotalVenda,'C','pt-BR'),
</a:t>
            </a:r>
            <a:pPr indent="0" marL="0">
              <a:buNone/>
            </a:pPr>
            <a:r>
              <a:rPr lang="en-US" sz="95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FORMAT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(TotalVenda-TotalCusto,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'C','pt-BR') AS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Lucro
</a:t>
            </a:r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CTE_Totais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60520" cy="2651760"/>
          </a:xfrm>
          <a:prstGeom prst="roundRect">
            <a:avLst>
              <a:gd name="adj" fmla="val 2759"/>
            </a:avLst>
          </a:prstGeom>
          <a:solidFill>
            <a:srgbClr val="0A1628"/>
          </a:solidFill>
          <a:ln w="12700">
            <a:solidFill>
              <a:srgbClr val="42A5F5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4160520" cy="365760"/>
          </a:xfrm>
          <a:prstGeom prst="roundRect">
            <a:avLst>
              <a:gd name="adj" fmla="val 20000"/>
            </a:avLst>
          </a:prstGeom>
          <a:solidFill>
            <a:srgbClr val="0D47A1">
              <a:alpha val="70000"/>
            </a:srgbClr>
          </a:solidFill>
          <a:ln w="12700">
            <a:solidFill>
              <a:srgbClr val="0D47A1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+ % Acumulado por País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886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CTE_Totais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
(...),
</a:t>
            </a:r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CTE_Percentual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
(
  SELECT
</a:t>
            </a:r>
            <a:pPr indent="0" marL="0">
              <a:buNone/>
            </a:pPr>
            <a:r>
              <a:rPr lang="en-US" sz="95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RANK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pPr indent="0" marL="0">
              <a:buNone/>
            </a:pPr>
            <a:r>
              <a:rPr lang="en-US" sz="95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</a:t>
            </a:r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Lucro </a:t>
            </a:r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Rank,
</a:t>
            </a:r>
            <a:pPr indent="0" marL="0">
              <a:buNone/>
            </a:pPr>
            <a:r>
              <a:rPr lang="en-US" sz="95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(Lucro) </a:t>
            </a:r>
            <a:pPr indent="0" marL="0">
              <a:buNone/>
            </a:pPr>
            <a:r>
              <a:rPr lang="en-US" sz="95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</a:t>
            </a:r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Lucro </a:t>
            </a:r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 BETWEEN
    UNBOUNDED PRECEDING
    AND CURRENT ROW)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 </a:t>
            </a:r>
            <a:pPr indent="0" marL="0">
              <a:buNone/>
            </a:pPr>
            <a:r>
              <a:rPr lang="en-US" sz="95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(Lucro) </a:t>
            </a:r>
            <a:pPr indent="0" marL="0">
              <a:buNone/>
            </a:pPr>
            <a:r>
              <a:rPr lang="en-US" sz="95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</a:t>
            </a:r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[% Acumulado]
</a:t>
            </a:r>
            <a:pPr indent="0" marL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CTE_Totais)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7490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E88E5">
              <a:alpha val="7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7490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Encadeadas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680" y="37490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E88E5">
              <a:alpha val="7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37490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49040" y="37490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E88E5">
              <a:alpha val="7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7490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37490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E88E5">
              <a:alpha val="7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37490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pt-BR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23760" y="37490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E88E5">
              <a:alpha val="7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37490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BETWEEN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4297680"/>
            <a:ext cx="8595360" cy="2103120"/>
          </a:xfrm>
          <a:prstGeom prst="roundRect">
            <a:avLst>
              <a:gd name="adj" fmla="val 3478"/>
            </a:avLst>
          </a:prstGeom>
          <a:solidFill>
            <a:srgbClr val="0A1628"/>
          </a:solidFill>
          <a:ln w="12700">
            <a:solidFill>
              <a:srgbClr val="42A5F5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4297680"/>
            <a:ext cx="8595360" cy="347472"/>
          </a:xfrm>
          <a:prstGeom prst="roundRect">
            <a:avLst>
              <a:gd name="adj" fmla="val 21053"/>
            </a:avLst>
          </a:prstGeom>
          <a:solidFill>
            <a:srgbClr val="0D47A1">
              <a:alpha val="70000"/>
            </a:srgbClr>
          </a:solidFill>
          <a:ln w="12700">
            <a:solidFill>
              <a:srgbClr val="0D47A1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Produtos com % do Total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681728"/>
            <a:ext cx="8321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CTE_Prod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(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ProductName, </a:t>
            </a:r>
            <a:pPr indent="0" marL="0">
              <a:buNone/>
            </a:pPr>
            <a:r>
              <a:rPr lang="en-US" sz="9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(SalesAmount) 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Receita, </a:t>
            </a:r>
            <a:pPr indent="0" marL="0">
              <a:buNone/>
            </a:pPr>
            <a:r>
              <a:rPr lang="en-US" sz="9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(SalesAmount)-</a:t>
            </a:r>
            <a:pPr indent="0" marL="0">
              <a:buNone/>
            </a:pPr>
            <a:r>
              <a:rPr lang="en-US" sz="9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(TotalCost) 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Lucro  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FactSales </a:t>
            </a:r>
            <a:pPr indent="0" marL="0">
              <a:buNone/>
            </a:pPr>
            <a:r>
              <a:rPr lang="en-US" sz="9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</a:t>
            </a:r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DimProduct 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FactSales.ProductKey = DimProduct.ProductKey  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ProductName)
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OVER(ORDER BY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Lucro 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DESC) AS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Ranking,  ProductName,  </a:t>
            </a:r>
            <a:pPr indent="0" marL="0">
              <a:buNone/>
            </a:pPr>
            <a:r>
              <a:rPr lang="en-US" sz="9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(Receita,'C','pt-BR') AS Receita,  </a:t>
            </a:r>
            <a:pPr indent="0" marL="0">
              <a:buNone/>
            </a:pPr>
            <a:r>
              <a:rPr lang="en-US" sz="9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(Lucro,'C','pt-BR') AS Lucro,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(Lucro/</a:t>
            </a:r>
            <a:pPr indent="0" marL="0">
              <a:buNone/>
            </a:pPr>
            <a:r>
              <a:rPr lang="en-US" sz="9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(Lucro) </a:t>
            </a:r>
            <a:pPr indent="0" marL="0">
              <a:buNone/>
            </a:pPr>
            <a:r>
              <a:rPr lang="en-US" sz="9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(),'P2','pt-BR') AS [% do Total]  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CTE_Prod  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Lucro 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914400" y="-914400"/>
            <a:ext cx="731520" cy="5486400"/>
          </a:xfrm>
          <a:prstGeom prst="rect">
            <a:avLst/>
          </a:prstGeom>
          <a:solidFill>
            <a:srgbClr val="0D47A1">
              <a:alpha val="12000"/>
            </a:srgbClr>
          </a:solidFill>
          <a:ln w="12700">
            <a:solidFill>
              <a:srgbClr val="0D47A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548640" y="-914400"/>
            <a:ext cx="731520" cy="5486400"/>
          </a:xfrm>
          <a:prstGeom prst="rect">
            <a:avLst/>
          </a:prstGeom>
          <a:solidFill>
            <a:srgbClr val="0D47A1">
              <a:alpha val="12000"/>
            </a:srgbClr>
          </a:solidFill>
          <a:ln w="12700">
            <a:solidFill>
              <a:srgbClr val="0D47A1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2011680" y="-914400"/>
            <a:ext cx="731520" cy="5486400"/>
          </a:xfrm>
          <a:prstGeom prst="rect">
            <a:avLst/>
          </a:prstGeom>
          <a:solidFill>
            <a:srgbClr val="0D47A1">
              <a:alpha val="12000"/>
            </a:srgbClr>
          </a:solidFill>
          <a:ln w="12700">
            <a:solidFill>
              <a:srgbClr val="0D47A1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3474720" y="-914400"/>
            <a:ext cx="731520" cy="5486400"/>
          </a:xfrm>
          <a:prstGeom prst="rect">
            <a:avLst/>
          </a:prstGeom>
          <a:solidFill>
            <a:srgbClr val="0D47A1">
              <a:alpha val="12000"/>
            </a:srgbClr>
          </a:solidFill>
          <a:ln w="12700">
            <a:solidFill>
              <a:srgbClr val="0D47A1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4937760" y="-914400"/>
            <a:ext cx="731520" cy="5486400"/>
          </a:xfrm>
          <a:prstGeom prst="rect">
            <a:avLst/>
          </a:prstGeom>
          <a:solidFill>
            <a:srgbClr val="0D47A1">
              <a:alpha val="12000"/>
            </a:srgbClr>
          </a:solidFill>
          <a:ln w="12700">
            <a:solidFill>
              <a:srgbClr val="0D47A1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6400800" y="-914400"/>
            <a:ext cx="731520" cy="5486400"/>
          </a:xfrm>
          <a:prstGeom prst="rect">
            <a:avLst/>
          </a:prstGeom>
          <a:solidFill>
            <a:srgbClr val="0D47A1">
              <a:alpha val="12000"/>
            </a:srgbClr>
          </a:solidFill>
          <a:ln w="12700">
            <a:solidFill>
              <a:srgbClr val="0D47A1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7863840" y="-914400"/>
            <a:ext cx="731520" cy="5486400"/>
          </a:xfrm>
          <a:prstGeom prst="rect">
            <a:avLst/>
          </a:prstGeom>
          <a:solidFill>
            <a:srgbClr val="0D47A1">
              <a:alpha val="12000"/>
            </a:srgbClr>
          </a:solidFill>
          <a:ln w="12700">
            <a:solidFill>
              <a:srgbClr val="0D47A1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800000">
            <a:off x="9326880" y="-914400"/>
            <a:ext cx="731520" cy="5486400"/>
          </a:xfrm>
          <a:prstGeom prst="rect">
            <a:avLst/>
          </a:prstGeom>
          <a:solidFill>
            <a:srgbClr val="0D47A1">
              <a:alpha val="12000"/>
            </a:srgbClr>
          </a:solidFill>
          <a:ln w="12700">
            <a:solidFill>
              <a:srgbClr val="0D47A1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23960" y="0"/>
            <a:ext cx="320040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14232" y="0"/>
            <a:ext cx="109728" cy="6858000"/>
          </a:xfrm>
          <a:prstGeom prst="rect">
            <a:avLst/>
          </a:prstGeom>
          <a:solidFill>
            <a:srgbClr val="00BCD4">
              <a:alpha val="60000"/>
            </a:srgbClr>
          </a:solidFill>
          <a:ln w="12700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48640"/>
            <a:ext cx="82296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16200000">
              <a:srgbClr val="1E88E5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3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concluído.</a:t>
            </a:r>
            <a:endParaRPr lang="en-US" sz="5600" dirty="0"/>
          </a:p>
        </p:txBody>
      </p:sp>
      <p:sp>
        <p:nvSpPr>
          <p:cNvPr id="13" name="Shape 11"/>
          <p:cNvSpPr/>
          <p:nvPr/>
        </p:nvSpPr>
        <p:spPr>
          <a:xfrm>
            <a:off x="1371600" y="3017520"/>
            <a:ext cx="640080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projeto é um passo na minha evolução como profissional de dados.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645920" y="4023360"/>
            <a:ext cx="5852160" cy="777240"/>
          </a:xfrm>
          <a:prstGeom prst="roundRect">
            <a:avLst>
              <a:gd name="adj" fmla="val 11765"/>
            </a:avLst>
          </a:prstGeom>
          <a:solidFill>
            <a:srgbClr val="1E88E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254000" dist="50800" dir="16200000">
              <a:srgbClr val="1E88E5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45920" y="402336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Ver projeto completo no GitHub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983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github.com/Paulinh01/AnaliseDeDados---PCP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5532120"/>
            <a:ext cx="4572000" cy="36576"/>
          </a:xfrm>
          <a:prstGeom prst="rect">
            <a:avLst/>
          </a:prstGeom>
          <a:solidFill>
            <a:srgbClr val="0D47A1">
              <a:alpha val="60000"/>
            </a:srgbClr>
          </a:solidFill>
          <a:ln w="12700">
            <a:solidFill>
              <a:srgbClr val="0D47A1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623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Wesllem de Queiroz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080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PCP  ·  Power BI  ·  SQL  ·  Dados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2026-07-13T11:07:39Z</dcterms:created>
  <dcterms:modified xsi:type="dcterms:W3CDTF">2026-07-13T11:07:39Z</dcterms:modified>
</cp:coreProperties>
</file>